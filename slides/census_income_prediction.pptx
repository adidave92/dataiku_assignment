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5143500" cy="9144000"/>
  <p:embeddedFontLst>
    <p:embeddedFont>
      <p:font typeface="Spectral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BFB5F6-4E57-441A-B43B-0B45DDFC346F}">
  <a:tblStyle styleId="{B7BFB5F6-4E57-441A-B43B-0B45DDFC34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Spectral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ectral-boldItalic.fntdata"/><Relationship Id="rId30" Type="http://schemas.openxmlformats.org/officeDocument/2006/relationships/font" Target="fonts/Spectral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aae0a621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eaae0a621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aae0a621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aae0a621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eaae0a621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aae0a6216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5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80" y="0"/>
            <a:ext cx="873252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8265" y="275856"/>
            <a:ext cx="2926200" cy="347400"/>
          </a:xfrm>
          <a:prstGeom prst="roundRect">
            <a:avLst>
              <a:gd fmla="val 13158" name="adj"/>
            </a:avLst>
          </a:prstGeom>
          <a:solidFill>
            <a:srgbClr val="1B3A72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98520" y="303288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DATAIKU ASSESSMENT  ·  DATA SCIENCE</a:t>
            </a:r>
            <a:endParaRPr i="0" sz="100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1078992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Who Earns Over $50K?</a:t>
            </a:r>
            <a:endParaRPr i="0" sz="4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193852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FDC"/>
              </a:buClr>
              <a:buSzPts val="2400"/>
              <a:buFont typeface="Cambria"/>
              <a:buNone/>
            </a:pPr>
            <a:r>
              <a:rPr i="0" lang="en-US" sz="2400" u="none" cap="none" strike="noStrike">
                <a:solidFill>
                  <a:srgbClr val="A8BFDC"/>
                </a:solidFill>
                <a:latin typeface="Spectral"/>
                <a:ea typeface="Spectral"/>
                <a:cs typeface="Spectral"/>
                <a:sym typeface="Spectral"/>
              </a:rPr>
              <a:t>Predicting Income from US Census Data</a:t>
            </a:r>
            <a:endParaRPr i="0" sz="24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77240" y="2578608"/>
            <a:ext cx="7498080" cy="27432"/>
          </a:xfrm>
          <a:prstGeom prst="rect">
            <a:avLst/>
          </a:prstGeom>
          <a:solidFill>
            <a:srgbClr val="2D4E7E"/>
          </a:solidFill>
          <a:ln cap="flat" cmpd="sng" w="12700">
            <a:solidFill>
              <a:srgbClr val="2D4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77240" y="2688336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EC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7B9EC8"/>
                </a:solidFill>
                <a:latin typeface="Spectral"/>
                <a:ea typeface="Spectral"/>
                <a:cs typeface="Spectral"/>
                <a:sym typeface="Spectral"/>
              </a:rPr>
              <a:t>A Deep-Dive Into 347 Million Americans  ·  1994–1995 Census Bureau Data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199K+</a:t>
            </a:r>
            <a:endParaRPr i="0" sz="3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77240" y="4114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EC8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7B9EC8"/>
                </a:solidFill>
                <a:latin typeface="Spectral"/>
                <a:ea typeface="Spectral"/>
                <a:cs typeface="Spectral"/>
                <a:sym typeface="Spectral"/>
              </a:rPr>
              <a:t>Training records</a:t>
            </a:r>
            <a:endParaRPr i="0" sz="1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88036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40</a:t>
            </a:r>
            <a:endParaRPr i="0" sz="3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880360" y="4114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EC8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7B9EC8"/>
                </a:solidFill>
                <a:latin typeface="Spectral"/>
                <a:ea typeface="Spectral"/>
                <a:cs typeface="Spectral"/>
                <a:sym typeface="Spectral"/>
              </a:rPr>
              <a:t>Features</a:t>
            </a:r>
            <a:endParaRPr i="0" sz="1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98348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347M</a:t>
            </a:r>
            <a:endParaRPr i="0" sz="3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983480" y="4114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EC8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7B9EC8"/>
                </a:solidFill>
                <a:latin typeface="Spectral"/>
                <a:ea typeface="Spectral"/>
                <a:cs typeface="Spectral"/>
                <a:sym typeface="Spectral"/>
              </a:rPr>
              <a:t>Americans represented</a:t>
            </a:r>
            <a:endParaRPr i="0" sz="1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086600" y="35204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3</a:t>
            </a:r>
            <a:endParaRPr i="0" sz="3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086600" y="4114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EC8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7B9EC8"/>
                </a:solidFill>
                <a:latin typeface="Spectral"/>
                <a:ea typeface="Spectral"/>
                <a:cs typeface="Spectral"/>
                <a:sym typeface="Spectral"/>
              </a:rPr>
              <a:t>Models compared</a:t>
            </a:r>
            <a:endParaRPr i="0" sz="1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77240" y="480060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800"/>
              <a:buFont typeface="Calibri"/>
              <a:buNone/>
            </a:pPr>
            <a:r>
              <a:rPr i="0" lang="en-US" sz="800" u="none" cap="none" strike="noStrike">
                <a:solidFill>
                  <a:srgbClr val="3D5A80"/>
                </a:solidFill>
                <a:latin typeface="Spectral"/>
                <a:ea typeface="Spectral"/>
                <a:cs typeface="Spectral"/>
                <a:sym typeface="Spectral"/>
              </a:rPr>
              <a:t>CONFIDENTIAL  ·  202</a:t>
            </a:r>
            <a:r>
              <a:rPr lang="en-US" sz="800">
                <a:solidFill>
                  <a:srgbClr val="3D5A80"/>
                </a:solidFill>
                <a:latin typeface="Spectral"/>
                <a:ea typeface="Spectral"/>
                <a:cs typeface="Spectral"/>
                <a:sym typeface="Spectral"/>
              </a:rPr>
              <a:t>6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OVERVIEW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Today's Agenda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914400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39496" y="1115568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39496" y="11155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01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24712" y="10698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Business Context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24712" y="1408176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Why predict income? The allocation problem.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11480" y="2231136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39496" y="2432304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39496" y="243230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02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4712" y="238658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The Dataset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24712" y="27249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347M Americans, 40 signals, two years of census data.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11480" y="3547872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39496" y="3749040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39496" y="37490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03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24712" y="3703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Key Findings from EDA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24712" y="404164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Education, age, capital income, and demographic patterns.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914400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974336" y="1115568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974336" y="111556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04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559552" y="10698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Modelling Approach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559552" y="1408176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Three competing models: Logistic Regression, Random Forest, LightGBM.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846320" y="2231136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974336" y="2432304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74336" y="243230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05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559552" y="238658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Results &amp; Interpretation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559552" y="27249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ROC-AUC 0.955 · PR-AUC 0.677 · SHAP explainability.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846320" y="3547872"/>
            <a:ext cx="416052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74336" y="3749040"/>
            <a:ext cx="475488" cy="475488"/>
          </a:xfrm>
          <a:prstGeom prst="roundRect">
            <a:avLst>
              <a:gd fmla="val 11538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74336" y="37490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06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559552" y="3703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Takeaways &amp; Next Steps</a:t>
            </a:r>
            <a:endParaRPr i="0" sz="13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559552" y="404164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Findings, honest limitations, and deployment considerations.</a:t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1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20 min presentation  +  20 min Q&amp;A — feel free to interrupt with questions at any point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41097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01 · BUSINESS CONTEXT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Why Predict Income? The Allocation Problem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11480" y="896112"/>
            <a:ext cx="83210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1042416"/>
            <a:ext cx="914400" cy="548640"/>
          </a:xfrm>
          <a:prstGeom prst="roundRect">
            <a:avLst>
              <a:gd fmla="val 10000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104241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$4T+</a:t>
            </a:r>
            <a:endParaRPr i="0" sz="11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627632" y="1033272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Federal funding allocated annually using Census income data — hospitals, schools, fire departments, infrastructure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" y="1892808"/>
            <a:ext cx="83210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2039112"/>
            <a:ext cx="914400" cy="548640"/>
          </a:xfrm>
          <a:prstGeom prst="roundRect">
            <a:avLst>
              <a:gd fmla="val 10000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203911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Policy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627632" y="2029968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 predictive model flags under-served populations and identifies data quality issues at scale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11480" y="2889504"/>
            <a:ext cx="83210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3035808"/>
            <a:ext cx="914400" cy="548640"/>
          </a:xfrm>
          <a:prstGeom prst="roundRect">
            <a:avLst>
              <a:gd fmla="val 10000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30358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Question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627632" y="302666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What characteristics predict whether a person earns ≥ $50,000/year?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11480" y="3886200"/>
            <a:ext cx="8321040" cy="841248"/>
          </a:xfrm>
          <a:prstGeom prst="roundRect">
            <a:avLst>
              <a:gd fmla="val 760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4032504"/>
            <a:ext cx="914400" cy="548640"/>
          </a:xfrm>
          <a:prstGeom prst="roundRect">
            <a:avLst>
              <a:gd fmla="val 10000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4032504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Dual Role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627632" y="402336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Calibri"/>
              <a:buNone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Both a classification problem and a policy analysis tool — technical rigor meets real-world impact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02 · THE DATASET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The Data: 347 Million Americans in Two Years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804672"/>
            <a:ext cx="1874520" cy="1005840"/>
          </a:xfrm>
          <a:prstGeom prst="roundRect">
            <a:avLst>
              <a:gd fmla="val 7273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21208" y="896112"/>
            <a:ext cx="1655064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199,523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1388059"/>
            <a:ext cx="169164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Training records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496312" y="804672"/>
            <a:ext cx="1874520" cy="1005840"/>
          </a:xfrm>
          <a:prstGeom prst="roundRect">
            <a:avLst>
              <a:gd fmla="val 7273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606040" y="896112"/>
            <a:ext cx="1655064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99,762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587752" y="1388059"/>
            <a:ext cx="169164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Test records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81144" y="804672"/>
            <a:ext cx="1874520" cy="1005840"/>
          </a:xfrm>
          <a:prstGeom prst="roundRect">
            <a:avLst>
              <a:gd fmla="val 7273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90872" y="896112"/>
            <a:ext cx="1655064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40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672584" y="1388059"/>
            <a:ext cx="169164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Features per individual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65976" y="804672"/>
            <a:ext cx="1874520" cy="1005840"/>
          </a:xfrm>
          <a:prstGeom prst="roundRect">
            <a:avLst>
              <a:gd fmla="val 7273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775704" y="896112"/>
            <a:ext cx="1655064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347M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757416" y="1388059"/>
            <a:ext cx="1691640" cy="382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Americans represented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11480" y="19659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Feature Categories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1480" y="2331720"/>
            <a:ext cx="5074920" cy="621792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240487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ectral"/>
                <a:ea typeface="Spectral"/>
                <a:cs typeface="Spectral"/>
                <a:sym typeface="Spectral"/>
              </a:rPr>
              <a:t>Continuous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2606040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Age, weeks worked, wage/hr, capital gains, capital losses, dividends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11480" y="3044952"/>
            <a:ext cx="5074920" cy="621792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48640" y="3118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ectral"/>
                <a:ea typeface="Spectral"/>
                <a:cs typeface="Spectral"/>
                <a:sym typeface="Spectral"/>
              </a:rPr>
              <a:t>Categorical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3319272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Education, marital status, occupation, industry, race, sex, citizenship, tax filing, household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11480" y="3758184"/>
            <a:ext cx="5074920" cy="621792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383133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ectral"/>
                <a:ea typeface="Spectral"/>
                <a:cs typeface="Spectral"/>
                <a:sym typeface="Spectral"/>
              </a:rPr>
              <a:t>Special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4032504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Instance weights (col 24): each record represents thousands of real Americans — used for population statistics, excluded from model features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02_instance_weights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49146" t="8046"/>
          <a:stretch/>
        </p:blipFill>
        <p:spPr>
          <a:xfrm>
            <a:off x="6062409" y="1923914"/>
            <a:ext cx="2707598" cy="1499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5835857" y="4927869"/>
            <a:ext cx="3291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 sz="8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Each record represents thousands of real people</a:t>
            </a:r>
            <a:endParaRPr i="0" sz="8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02_instance_weights.png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50473" r="0" t="8046"/>
          <a:stretch/>
        </p:blipFill>
        <p:spPr>
          <a:xfrm>
            <a:off x="6062409" y="3423439"/>
            <a:ext cx="2707598" cy="1539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02 · THE DATASET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The 6.2% Problem: Why Accuracy Is Misleading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11480" y="1325298"/>
            <a:ext cx="1920300" cy="1188600"/>
          </a:xfrm>
          <a:prstGeom prst="roundRect">
            <a:avLst>
              <a:gd fmla="val 6154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21208" y="1416738"/>
            <a:ext cx="1700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FA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5FA8"/>
                </a:solidFill>
                <a:latin typeface="Spectral"/>
                <a:ea typeface="Spectral"/>
                <a:cs typeface="Spectral"/>
                <a:sym typeface="Spectral"/>
              </a:rPr>
              <a:t>93.8%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20" y="2014756"/>
            <a:ext cx="1737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Income &lt; $50K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11480" y="2623746"/>
            <a:ext cx="1920300" cy="1188600"/>
          </a:xfrm>
          <a:prstGeom prst="roundRect">
            <a:avLst>
              <a:gd fmla="val 6154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21208" y="2715186"/>
            <a:ext cx="1700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6.2%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02920" y="3313204"/>
            <a:ext cx="1737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Income ≥ $50K (~22M Americans)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11475" y="4129602"/>
            <a:ext cx="1920300" cy="451800"/>
          </a:xfrm>
          <a:prstGeom prst="roundRect">
            <a:avLst>
              <a:gd fmla="val 14286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11400" y="4038038"/>
            <a:ext cx="1920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Use ROC-AUC &amp; PR-AUC, not accuracy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03_target_distribution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425" y="1445111"/>
            <a:ext cx="6309361" cy="229014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7"/>
          <p:cNvSpPr/>
          <p:nvPr/>
        </p:nvSpPr>
        <p:spPr>
          <a:xfrm>
            <a:off x="2547361" y="4139768"/>
            <a:ext cx="6489000" cy="451800"/>
          </a:xfrm>
          <a:prstGeom prst="roundRect">
            <a:avLst>
              <a:gd fmla="val 20000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684511" y="4218306"/>
            <a:ext cx="62235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 model that always predicts '&lt;$50K' scores 93.8% accuracy — and is completely useless. Class imbalance drives every modelling decision downstream.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2615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02 · THE DATASET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Data Quality: Migration Columns Require Special Treatment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1_missing_values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0925"/>
            <a:ext cx="5669279" cy="219824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6263640" y="841248"/>
            <a:ext cx="256032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0" y="9326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Migration cols (50%)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0" y="1188720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Structural missingness — these records belong to non-movers for whom migration data is undefined, not randomly absent. Imputation would be inappropriate.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263640" y="2084832"/>
            <a:ext cx="256032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00800" y="217627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Country of birth (1–3%)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400800" y="2432304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Minor missingness, likely MCAR. Standard imputation (mode for categoricals) is appropriate.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63640" y="3328416"/>
            <a:ext cx="256032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00800" y="34198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Strategy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400800" y="3675888"/>
            <a:ext cx="22860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Migration columns: add binary 'is_mover' indicator + fill 'Not_in_universe'. Country cols: mode imputation. No imputation for model features that are fully observed.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28690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What Predicts Income? A Roadmap of the Top Signals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6_feature_signal_ranking.png"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75" y="908087"/>
            <a:ext cx="5505275" cy="38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5897880" y="822960"/>
            <a:ext cx="29260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035040" y="88696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#1 Education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035040" y="113385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Largest single discriminator. The bachelor's degree is the structural inflection point.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897880" y="1664208"/>
            <a:ext cx="29260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035040" y="172821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#2 Class of Worker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035040" y="197510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Government vs self-employed vs private sector differ substantially.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897880" y="2505456"/>
            <a:ext cx="29260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035040" y="256946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#3–4 Industry &amp; Occupation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035040" y="28163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Sector matters as much as seniority.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897880" y="3346704"/>
            <a:ext cx="29260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035040" y="341071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Capital Income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035040" y="36576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Despite covering only 3.7% of population, capital gains/dividends signal high earning with 6x lift.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897880" y="4187952"/>
            <a:ext cx="292608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035040" y="425196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Low: Wage/hr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035040" y="449884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Self-reported hourly rate conflates part-time and full-time — annual weeks worked is far more informative.</a:t>
            </a:r>
            <a:endParaRPr i="0" sz="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Portrait of a High Earner: Who Are the 22 Million?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5" name="Google Shape;205;p10"/>
          <p:cNvGraphicFramePr/>
          <p:nvPr/>
        </p:nvGraphicFramePr>
        <p:xfrm>
          <a:off x="411480" y="1010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{B7BFB5F6-4E57-441A-B43B-0B45DDFC346F}</a:tableStyleId>
              </a:tblPr>
              <a:tblGrid>
                <a:gridCol w="1325875"/>
                <a:gridCol w="2057400"/>
                <a:gridCol w="1645925"/>
              </a:tblGrid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Attribute</a:t>
                      </a:r>
                      <a:endParaRPr sz="11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High Earner (≥$50K)</a:t>
                      </a:r>
                      <a:endParaRPr sz="11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Typical American</a:t>
                      </a:r>
                      <a:endParaRPr sz="11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Age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45–54 years (peak income decade)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35–44 years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Education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Bachelor's degree or higher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High school diploma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Marital Status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Married, civilian spouse present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Never married / other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Employment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Full-time, full year (52 weeks)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Variable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Capital Income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Present — gains or dividends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Absent (96% of population)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Weeks Worked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~52 weeks (full year)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~40 weeks</a:t>
                      </a:r>
                      <a:endParaRPr sz="105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mnt/user-data/uploads/15_age_income_lifecycle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49138" t="9869"/>
          <a:stretch/>
        </p:blipFill>
        <p:spPr>
          <a:xfrm>
            <a:off x="5756505" y="774114"/>
            <a:ext cx="2965097" cy="1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411475" y="4678187"/>
            <a:ext cx="8321100" cy="394200"/>
          </a:xfrm>
          <a:prstGeom prst="roundRect">
            <a:avLst>
              <a:gd fmla="val 20588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50" y="4838711"/>
            <a:ext cx="8046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High earning is not one trait — it's a compound of education, age, work attachment, and asset ownership that reinforce each </a:t>
            </a:r>
            <a:r>
              <a:rPr lang="en-US" sz="1050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other.</a:t>
            </a:r>
            <a:r>
              <a:rPr lang="en-US" sz="1050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Income rate peaks in the 45–54 age decade, then declines toward retirement</a:t>
            </a:r>
            <a:endParaRPr sz="1050">
              <a:solidFill>
                <a:srgbClr val="1A202C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t/>
            </a:r>
            <a:endParaRPr sz="1050">
              <a:solidFill>
                <a:srgbClr val="1A202C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15_age_income_lifecycle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50022" r="0" t="8333"/>
          <a:stretch/>
        </p:blipFill>
        <p:spPr>
          <a:xfrm>
            <a:off x="5756505" y="2650226"/>
            <a:ext cx="2965102" cy="193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1 — The Education-Income Ladder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8_education_income.png"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061" y="1079152"/>
            <a:ext cx="8138176" cy="258097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11"/>
          <p:cNvSpPr/>
          <p:nvPr/>
        </p:nvSpPr>
        <p:spPr>
          <a:xfrm>
            <a:off x="510204" y="4332023"/>
            <a:ext cx="2560200" cy="384000"/>
          </a:xfrm>
          <a:prstGeom prst="roundRect">
            <a:avLst>
              <a:gd fmla="val 14286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01644" y="4332023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3–4% </a:t>
            </a: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 ·  High school grad income rate (near population average of 6.2%)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299124" y="4332023"/>
            <a:ext cx="2560200" cy="384000"/>
          </a:xfrm>
          <a:prstGeom prst="roundRect">
            <a:avLst>
              <a:gd fmla="val 14286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390564" y="4332023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~20% </a:t>
            </a:r>
            <a:r>
              <a:rPr i="0" lang="en-US" sz="9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1" i="0" lang="en-US" sz="9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·  Bachelor's degree — the major structural inflection point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088044" y="4332023"/>
            <a:ext cx="2560200" cy="384000"/>
          </a:xfrm>
          <a:prstGeom prst="roundRect">
            <a:avLst>
              <a:gd fmla="val 14286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179484" y="4332023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~52%  </a:t>
            </a: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·  Doctoral/professional degree — double the bachelor's rate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414982" y="3897139"/>
            <a:ext cx="271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Spectral"/>
                <a:ea typeface="Spectral"/>
                <a:cs typeface="Spectral"/>
                <a:sym typeface="Spectral"/>
              </a:rPr>
              <a:t>% Population earning &gt;= $50k</a:t>
            </a:r>
            <a:endParaRPr b="1" sz="12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2 — Age as a Life cycle Income Predictor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4_continuous_distributions.png" id="236" name="Google Shape;2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67" y="1259146"/>
            <a:ext cx="8140291" cy="252493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/>
          <p:nvPr/>
        </p:nvSpPr>
        <p:spPr>
          <a:xfrm>
            <a:off x="431225" y="4156275"/>
            <a:ext cx="8301300" cy="414600"/>
          </a:xfrm>
          <a:prstGeom prst="roundRect">
            <a:avLst>
              <a:gd fmla="val 18421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23225" y="3968700"/>
            <a:ext cx="82137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High earners are ~12 years older on average (mean 46 vs 34). They also work significantly more weeks per year — 48 vs 22. Age and work intensity compound each other.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433492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2b — Age × Education: The Compound Effect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3_age_education_heatmap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679" y="1053485"/>
            <a:ext cx="7680959" cy="339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411475" y="4656352"/>
            <a:ext cx="8321100" cy="347400"/>
          </a:xfrm>
          <a:prstGeom prst="roundRect">
            <a:avLst>
              <a:gd fmla="val 29167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548650" y="4650631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 45–54 year old with a graduate degree has a 50.1% income rate — 8× the population average. Age and education interact multiplicatively, not additively.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431225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3 — Capital Income: Sparse but Extraordinarily Powerful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476125" y="4337250"/>
            <a:ext cx="2560200" cy="658500"/>
          </a:xfrm>
          <a:prstGeom prst="roundRect">
            <a:avLst>
              <a:gd fmla="val 15385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85848" y="4417408"/>
            <a:ext cx="2340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200"/>
              <a:buFont typeface="Cambria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3.7%</a:t>
            </a:r>
            <a:endParaRPr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67560" y="4711759"/>
            <a:ext cx="2377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Only 3.7% of records have capital gains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265050" y="4337375"/>
            <a:ext cx="2560200" cy="658500"/>
          </a:xfrm>
          <a:prstGeom prst="roundRect">
            <a:avLst>
              <a:gd fmla="val 15385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374768" y="4406488"/>
            <a:ext cx="2340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200"/>
              <a:buFont typeface="Cambria"/>
              <a:buNone/>
            </a:pPr>
            <a:r>
              <a:rPr b="1" i="0" lang="en-US" sz="1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33% vs 5%</a:t>
            </a:r>
            <a:endParaRPr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356480" y="4721875"/>
            <a:ext cx="2377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High </a:t>
            </a: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Income rate for those with vs. without capital gains — 6.6× lift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053950" y="4337375"/>
            <a:ext cx="2560200" cy="658500"/>
          </a:xfrm>
          <a:prstGeom prst="roundRect">
            <a:avLst>
              <a:gd fmla="val 15385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163688" y="4384647"/>
            <a:ext cx="2340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FA8"/>
              </a:buClr>
              <a:buSzPts val="3200"/>
              <a:buFont typeface="Cambria"/>
              <a:buNone/>
            </a:pPr>
            <a:r>
              <a:rPr b="1" i="0" lang="en-US" sz="1800" u="none" cap="none" strike="noStrike">
                <a:solidFill>
                  <a:srgbClr val="1B5FA8"/>
                </a:solidFill>
                <a:latin typeface="Spectral"/>
                <a:ea typeface="Spectral"/>
                <a:cs typeface="Spectral"/>
                <a:sym typeface="Spectral"/>
              </a:rPr>
              <a:t>Binary</a:t>
            </a:r>
            <a:r>
              <a:rPr b="1" i="0" lang="en-US" sz="1800" u="none" cap="none" strike="noStrike">
                <a:solidFill>
                  <a:srgbClr val="1B5FA8"/>
                </a:solidFill>
                <a:latin typeface="Spectral"/>
                <a:ea typeface="Spectral"/>
                <a:cs typeface="Spectral"/>
                <a:sym typeface="Spectral"/>
              </a:rPr>
              <a:t> signal</a:t>
            </a:r>
            <a:endParaRPr i="0" sz="1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145400" y="4700034"/>
            <a:ext cx="2377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Presence matters more than amount — a binary flag outperforms the raw value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69" name="Google Shape;269;p14" title="06_capital_income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2772"/>
            <a:ext cx="8839200" cy="3383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4 — Household Structure and Work Status as Income Signals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9_marital_employment.png"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13566"/>
            <a:ext cx="8321040" cy="257697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5"/>
          <p:cNvSpPr/>
          <p:nvPr/>
        </p:nvSpPr>
        <p:spPr>
          <a:xfrm>
            <a:off x="411480" y="4455953"/>
            <a:ext cx="8321100" cy="347400"/>
          </a:xfrm>
          <a:prstGeom prst="roundRect">
            <a:avLst>
              <a:gd fmla="val 18421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48640" y="4547393"/>
            <a:ext cx="804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Married-civilian-spouse-present households have 11.9% high income rate — nearly double divorced, and 8× never-married. Full-time workers at 13.3% vs not-in-labor-force at 1.7%. Household structure proxies for career stage and economic stability.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411480" y="219456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5 — Demographic Income Gaps (Observational, Not Causal)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0" y="658368"/>
            <a:ext cx="9144000" cy="32100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2_demographic_gaps.png" id="291" name="Google Shape;2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848" y="1072002"/>
            <a:ext cx="7429352" cy="26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6"/>
          <p:cNvSpPr/>
          <p:nvPr/>
        </p:nvSpPr>
        <p:spPr>
          <a:xfrm>
            <a:off x="411475" y="4190275"/>
            <a:ext cx="8543400" cy="658500"/>
          </a:xfrm>
          <a:prstGeom prst="roundRect">
            <a:avLst>
              <a:gd fmla="val 10000" name="adj"/>
            </a:avLst>
          </a:prstGeom>
          <a:solidFill>
            <a:srgbClr val="FFF3CD"/>
          </a:solidFill>
          <a:ln cap="flat" cmpd="sng" w="15225">
            <a:solidFill>
              <a:srgbClr val="F0A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552300" y="4190270"/>
            <a:ext cx="826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6914"/>
                </a:solidFill>
                <a:latin typeface="Spectral"/>
                <a:ea typeface="Spectral"/>
                <a:cs typeface="Spectral"/>
                <a:sym typeface="Spectral"/>
              </a:rPr>
              <a:t>⚠ Important caveat: </a:t>
            </a:r>
            <a:r>
              <a:rPr i="0" lang="en-US" sz="1050" u="none" cap="none" strike="noStrike">
                <a:solidFill>
                  <a:srgbClr val="5C4A00"/>
                </a:solidFill>
                <a:latin typeface="Spectral"/>
                <a:ea typeface="Spectral"/>
                <a:cs typeface="Spectral"/>
                <a:sym typeface="Spectral"/>
              </a:rPr>
              <a:t>These patterns reflect historical structural inequalities in 1994–95. The model learns them as statistical signals. In a real deployment, formal fairness audits (demographic parity, equal opportunity) and possible post-hoc recalibration would be required.</a:t>
            </a:r>
            <a:endParaRPr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03 · KEY FINDINGS FROM EDA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411480" y="219456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Finding 5 — Demographic Income Gaps (Observational, Not Causal)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0" y="658368"/>
            <a:ext cx="9144000" cy="32100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411475" y="4190275"/>
            <a:ext cx="8543400" cy="658500"/>
          </a:xfrm>
          <a:prstGeom prst="roundRect">
            <a:avLst>
              <a:gd fmla="val 10000" name="adj"/>
            </a:avLst>
          </a:prstGeom>
          <a:solidFill>
            <a:srgbClr val="FFF3CD"/>
          </a:solidFill>
          <a:ln cap="flat" cmpd="sng" w="15225">
            <a:solidFill>
              <a:srgbClr val="F0A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552300" y="4190270"/>
            <a:ext cx="826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6914"/>
                </a:solidFill>
                <a:latin typeface="Spectral"/>
                <a:ea typeface="Spectral"/>
                <a:cs typeface="Spectral"/>
                <a:sym typeface="Spectral"/>
              </a:rPr>
              <a:t>⚠ Important caveat: </a:t>
            </a:r>
            <a:r>
              <a:rPr i="0" lang="en-US" sz="1050" u="none" cap="none" strike="noStrike">
                <a:solidFill>
                  <a:srgbClr val="5C4A00"/>
                </a:solidFill>
                <a:latin typeface="Spectral"/>
                <a:ea typeface="Spectral"/>
                <a:cs typeface="Spectral"/>
                <a:sym typeface="Spectral"/>
              </a:rPr>
              <a:t>These patterns reflect historical structural inequalities in 1994–95. The model learns them as statistical signals. In a real deployment, formal fairness audits (demographic parity, equal opportunity) and possible post-hoc recalibration would be required.</a:t>
            </a:r>
            <a:endParaRPr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14_sex_occupation_gap.png" id="305" name="Google Shape;3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238" y="1003537"/>
            <a:ext cx="6053373" cy="297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33492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04 · MODELLING APPROACH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Three Models: LightGBM Wins on What Matters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315" name="Google Shape;315;p18"/>
          <p:cNvGraphicFramePr/>
          <p:nvPr/>
        </p:nvGraphicFramePr>
        <p:xfrm>
          <a:off x="477002" y="972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{B7BFB5F6-4E57-441A-B43B-0B45DDFC346F}</a:tableStyleId>
              </a:tblPr>
              <a:tblGrid>
                <a:gridCol w="1753750"/>
                <a:gridCol w="1110125"/>
                <a:gridCol w="1170875"/>
                <a:gridCol w="3962750"/>
              </a:tblGrid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Model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ROC-AUC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PR-AUC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Notes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47"/>
                    </a:solidFill>
                  </a:tcPr>
                </a:tc>
              </a:tr>
              <a:tr h="40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Logistic Regression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0.946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0.607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Linear baseline, fast to train, strong interpretability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Random Forest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0.944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0.596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Ensemble baseline, captures non-linearity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4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2547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LightGBM (tuned) ★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A5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7A5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0.955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A5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7A5F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0.677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47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2547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Gradient boosting, Optuna-tuned — selected model</a:t>
                      </a:r>
                      <a:endParaRPr sz="1200" u="none" cap="none" strike="noStrike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45725" marB="45725" marR="91450" marL="91450">
                    <a:lnL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D1D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18"/>
          <p:cNvSpPr/>
          <p:nvPr/>
        </p:nvSpPr>
        <p:spPr>
          <a:xfrm>
            <a:off x="411480" y="2955550"/>
            <a:ext cx="498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200"/>
              <a:buFont typeface="Cambria"/>
              <a:buNone/>
            </a:pPr>
            <a:r>
              <a:rPr b="1" i="0" lang="en-US" sz="12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Why PR-AUC is the decisive metric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433313" y="3080797"/>
            <a:ext cx="759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Spectral"/>
              <a:buChar char="•"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All three models are close on ROC-AUC (0.944–0.955) — ROC is less informative on imbalanced data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Spectral"/>
              <a:buChar char="•"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LightGBM leads by +7 points on PR-AUC (0.677 vs 0.596–0.607)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Spectral"/>
              <a:buChar char="•"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PR-AUC directly measures the model's ability to rank the 6.2% minority class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Spectral"/>
              <a:buChar char="•"/>
            </a:pPr>
            <a:r>
              <a:rPr i="0" lang="en-US" sz="12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5-fold stratified cross-validation used throughout to prevent data leakage</a:t>
            </a:r>
            <a:endParaRPr i="0" sz="12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486400" y="4800600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5-Fold CV ROC-AUC by model — tight variance confirms stability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05 · RESULTS &amp; INTERPRETATION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LightGBM Results: ROC-AUC 0.955 · PR-AUC 0.677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descr="/mnt/user-data/uploads/19_roc_pr_curves.png" id="328" name="Google Shape;3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81" y="1431216"/>
            <a:ext cx="5792177" cy="27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9"/>
          <p:cNvSpPr/>
          <p:nvPr/>
        </p:nvSpPr>
        <p:spPr>
          <a:xfrm>
            <a:off x="6080760" y="1317930"/>
            <a:ext cx="2743200" cy="658500"/>
          </a:xfrm>
          <a:prstGeom prst="roundRect">
            <a:avLst>
              <a:gd fmla="val 11111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6190488" y="1409370"/>
            <a:ext cx="252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0.955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6172200" y="1699783"/>
            <a:ext cx="2560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ROC-AUC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6080760" y="2086026"/>
            <a:ext cx="2743200" cy="658500"/>
          </a:xfrm>
          <a:prstGeom prst="roundRect">
            <a:avLst>
              <a:gd fmla="val 11111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6190488" y="2177466"/>
            <a:ext cx="252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FA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5FA8"/>
                </a:solidFill>
                <a:latin typeface="Spectral"/>
                <a:ea typeface="Spectral"/>
                <a:cs typeface="Spectral"/>
                <a:sym typeface="Spectral"/>
              </a:rPr>
              <a:t>0.677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6172200" y="2467879"/>
            <a:ext cx="2560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PR-AUC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6080760" y="2854122"/>
            <a:ext cx="2743200" cy="658500"/>
          </a:xfrm>
          <a:prstGeom prst="roundRect">
            <a:avLst>
              <a:gd fmla="val 11111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6190488" y="2945562"/>
            <a:ext cx="252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0.857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172200" y="3235975"/>
            <a:ext cx="2560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F1-optimal threshold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6080760" y="3622218"/>
            <a:ext cx="2743200" cy="658500"/>
          </a:xfrm>
          <a:prstGeom prst="roundRect">
            <a:avLst>
              <a:gd fmla="val 11111" name="adj"/>
            </a:avLst>
          </a:prstGeom>
          <a:solidFill>
            <a:srgbClr val="EBF1FA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190488" y="3713658"/>
            <a:ext cx="252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5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7A5F"/>
                </a:solidFill>
                <a:latin typeface="Spectral"/>
                <a:ea typeface="Spectral"/>
                <a:cs typeface="Spectral"/>
                <a:sym typeface="Spectral"/>
              </a:rPr>
              <a:t>89.6%</a:t>
            </a:r>
            <a:endParaRPr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6172200" y="4004071"/>
            <a:ext cx="2560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Recall at threshold 0.857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433492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05 · RESULTS &amp; INTERPRETATION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Choosing the Operating Threshold: A Business Decision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21_threshold_analysis.png" id="350" name="Google Shape;3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21232"/>
            <a:ext cx="5943600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/>
          <p:nvPr/>
        </p:nvSpPr>
        <p:spPr>
          <a:xfrm>
            <a:off x="6590523" y="1168859"/>
            <a:ext cx="2331600" cy="16641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6727683" y="1260299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Lower threshold → Higher Recall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6727683" y="1571195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Flag more qualifying households. More false positives, fewer missed cases.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727683" y="2010107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 sz="8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Preferred for Census Bureau resource allocation — missing a qualifying household is costlier than a false positive that triggers manual review.</a:t>
            </a:r>
            <a:endParaRPr i="0" sz="8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6590523" y="2997659"/>
            <a:ext cx="2331600" cy="1664100"/>
          </a:xfrm>
          <a:prstGeom prst="roundRect">
            <a:avLst>
              <a:gd fmla="val 3846" name="adj"/>
            </a:avLst>
          </a:prstGeom>
          <a:solidFill>
            <a:srgbClr val="EBF1FA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727683" y="3089099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F1-optimal (0.857)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6727683" y="3399995"/>
            <a:ext cx="205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Best balance of precision and recall.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6727683" y="3838907"/>
            <a:ext cx="205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 sz="85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At 0.857: Recall 89.6%, Precision 31.7%, F1 0.468. High threshold reflects calibration — the model outputs low probabilities because positives are rare.</a:t>
            </a:r>
            <a:endParaRPr i="0" sz="8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411480" y="4370832"/>
            <a:ext cx="5943600" cy="347472"/>
          </a:xfrm>
          <a:prstGeom prst="roundRect">
            <a:avLst>
              <a:gd fmla="val 18421" name="adj"/>
            </a:avLst>
          </a:prstGeom>
          <a:solidFill>
            <a:srgbClr val="FDF6EC"/>
          </a:solidFill>
          <a:ln cap="flat" cmpd="sng" w="1905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548640" y="446227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9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4893D"/>
                </a:solidFill>
                <a:latin typeface="Spectral"/>
                <a:ea typeface="Spectral"/>
                <a:cs typeface="Spectral"/>
                <a:sym typeface="Spectral"/>
              </a:rPr>
              <a:t>KEY INSIGHT  </a:t>
            </a:r>
            <a:r>
              <a:rPr i="0" lang="en-US" sz="10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Threshold choice is not purely technical — it reflects the cost of false negatives vs false positives for the specific use case.</a:t>
            </a:r>
            <a:endParaRPr i="0" sz="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05 · RESULTS &amp; INTERPRETATION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What the Model Learned: SHAP Feature Importance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22_shap_beeswarm.png" id="370" name="Google Shape;3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22774"/>
            <a:ext cx="5029200" cy="352431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/>
          <p:nvPr/>
        </p:nvSpPr>
        <p:spPr>
          <a:xfrm>
            <a:off x="5623560" y="841248"/>
            <a:ext cx="320040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5760720" y="91440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Cambria"/>
                <a:ea typeface="Cambria"/>
                <a:cs typeface="Cambria"/>
                <a:sym typeface="Cambria"/>
              </a:rPr>
              <a:t>EDA ↔ SHAP alignment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5760720" y="116128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Education, age, occupation dominate both — the model learned real patterns, not noise.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5623560" y="1847088"/>
            <a:ext cx="320040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5760720" y="192024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age (top feature)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5760720" y="216712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Red = older → strong positive SHAP. Confirms the lifecycle S-curve from EDA.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5623560" y="2852928"/>
            <a:ext cx="320040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5760720" y="29260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Two surprises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5760720" y="317296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Tax filer status and weeks_worked capture labor force attachment interactions invisible in univariate analysis.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5623560" y="3858768"/>
            <a:ext cx="320040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5760720" y="393192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Sex encoding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5760720" y="4178808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sex_Female and sex_Male appear as separate rows (one-hot artifact) — they represent one underlying signal.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05 · RESULTS &amp; INTERPRETATION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Inside a Prediction: How the Model Explains Its Choices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24_shap_waterfall.png" id="392" name="Google Shape;3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9626" y="771900"/>
            <a:ext cx="5999354" cy="394696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/>
          <p:nvPr/>
        </p:nvSpPr>
        <p:spPr>
          <a:xfrm>
            <a:off x="455162" y="4843029"/>
            <a:ext cx="832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C3333"/>
                </a:solidFill>
                <a:latin typeface="Spectral"/>
                <a:ea typeface="Spectral"/>
                <a:cs typeface="Spectral"/>
                <a:sym typeface="Spectral"/>
              </a:rPr>
              <a:t>Red bars</a:t>
            </a:r>
            <a:r>
              <a:rPr i="0" lang="en-US" sz="10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 push toward ≥$50K.  </a:t>
            </a:r>
            <a:r>
              <a:rPr b="1" i="0" lang="en-US" sz="1000" u="none" cap="none" strike="noStrike">
                <a:solidFill>
                  <a:srgbClr val="1B5FA8"/>
                </a:solidFill>
                <a:latin typeface="Spectral"/>
                <a:ea typeface="Spectral"/>
                <a:cs typeface="Spectral"/>
                <a:sym typeface="Spectral"/>
              </a:rPr>
              <a:t>Blue bars</a:t>
            </a:r>
            <a:r>
              <a:rPr i="0" lang="en-US" sz="10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 push toward &lt;$50K.  Starting point: 6.2% base rate.  </a:t>
            </a:r>
            <a:r>
              <a:rPr b="1" i="0" lang="en-US" sz="1000" u="none" cap="none" strike="noStrike">
                <a:solidFill>
                  <a:srgbClr val="64748B"/>
                </a:solidFill>
                <a:latin typeface="Spectral"/>
                <a:ea typeface="Spectral"/>
                <a:cs typeface="Spectral"/>
                <a:sym typeface="Spectral"/>
              </a:rPr>
              <a:t>False negatives</a:t>
            </a:r>
            <a:r>
              <a:rPr i="0" lang="en-US" sz="100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 = early-career high earners whose income signal isn't yet visible in these features.</a:t>
            </a:r>
            <a:endParaRPr i="0" sz="10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33321" y="457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SECTION 06 · CONCLUSIONS</a:t>
            </a:r>
            <a:endParaRPr i="0" sz="750" u="none" cap="none" strike="noStrike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11480" y="21945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Key Takeaways and Limitations</a:t>
            </a:r>
            <a:endParaRPr i="0" sz="19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411480" y="822960"/>
            <a:ext cx="4023360" cy="420624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411480" y="822960"/>
            <a:ext cx="4023360" cy="365760"/>
          </a:xfrm>
          <a:prstGeom prst="roundRect">
            <a:avLst>
              <a:gd fmla="val 20000" name="adj"/>
            </a:avLst>
          </a:prstGeom>
          <a:solidFill>
            <a:srgbClr val="0F2547"/>
          </a:solidFill>
          <a:ln cap="flat" cmpd="sng" w="12700">
            <a:solidFill>
              <a:srgbClr val="0F2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548640" y="8412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✓  KEY FINDINGS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66928" y="131673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1. Education is the clearest structural predictor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566928" y="1572768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The bachelor's degree jump is the single largest income threshold. Graduate degrees roughly double the odds again.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66928" y="23408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2. Capital income is the sharpest discriminator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566928" y="2596896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Binary flag with 6× lift, despite covering only 3.7% of records. Presence matters more than amount.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566928" y="33649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47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F2547"/>
                </a:solidFill>
                <a:latin typeface="Spectral"/>
                <a:ea typeface="Spectral"/>
                <a:cs typeface="Spectral"/>
                <a:sym typeface="Spectral"/>
              </a:rPr>
              <a:t>3. LightGBM best captures compound effects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566928" y="362102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Age × work intensity × education interactions are invisible in univariate analysis but captured well by gradient boosting (ROC-AUC 0.955, PR-AUC 0.677).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4709160" y="822960"/>
            <a:ext cx="4023360" cy="420624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D1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4709160" y="822960"/>
            <a:ext cx="4023360" cy="365760"/>
          </a:xfrm>
          <a:prstGeom prst="roundRect">
            <a:avLst>
              <a:gd fmla="val 20000" name="adj"/>
            </a:avLst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846320" y="8412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⚠  HONEST LIMITATIONS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4864608" y="131673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7B3F00"/>
                </a:solidFill>
                <a:latin typeface="Spectral"/>
                <a:ea typeface="Spectral"/>
                <a:cs typeface="Spectral"/>
                <a:sym typeface="Spectral"/>
              </a:rPr>
              <a:t>1. Data is 30 years old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6" name="Google Shape;416;p23"/>
          <p:cNvSpPr/>
          <p:nvPr/>
        </p:nvSpPr>
        <p:spPr>
          <a:xfrm>
            <a:off x="4864608" y="1572768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$50K in 1994 ≈ $100K in 2024 dollars. Findings are directionally valid but magnitudes and some demographic patterns have shifted considerably.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864608" y="23408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7B3F00"/>
                </a:solidFill>
                <a:latin typeface="Spectral"/>
                <a:ea typeface="Spectral"/>
                <a:cs typeface="Spectral"/>
                <a:sym typeface="Spectral"/>
              </a:rPr>
              <a:t>2. All findings are observational associations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864608" y="2596896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The model predicts income but makes no causal claims. Correlation ≠ causation, especially for demographic features.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864608" y="33649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F00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7B3F00"/>
                </a:solidFill>
                <a:latin typeface="Spectral"/>
                <a:ea typeface="Spectral"/>
                <a:cs typeface="Spectral"/>
                <a:sym typeface="Spectral"/>
              </a:rPr>
              <a:t>3. Random train/test split, not temporal</a:t>
            </a:r>
            <a:endParaRPr i="0" sz="10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4864608" y="362102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Calibri"/>
              <a:buNone/>
            </a:pPr>
            <a:r>
              <a:rPr i="0" lang="en-US" sz="950" u="none" cap="none" strike="noStrike">
                <a:solidFill>
                  <a:srgbClr val="1A202C"/>
                </a:solidFill>
                <a:latin typeface="Spectral"/>
                <a:ea typeface="Spectral"/>
                <a:cs typeface="Spectral"/>
                <a:sym typeface="Spectral"/>
              </a:rPr>
              <a:t>A year-based split (1994 train / 1995 test) would better simulate real deployment conditions and is worth exploring as a robustness check.</a:t>
            </a:r>
            <a:endParaRPr i="0" sz="9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547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/>
          <p:nvPr/>
        </p:nvSpPr>
        <p:spPr>
          <a:xfrm>
            <a:off x="0" y="0"/>
            <a:ext cx="411600" cy="5143500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411480" y="0"/>
            <a:ext cx="8732520" cy="32004"/>
          </a:xfrm>
          <a:prstGeom prst="rect">
            <a:avLst/>
          </a:prstGeom>
          <a:solidFill>
            <a:srgbClr val="C4893D"/>
          </a:solidFill>
          <a:ln cap="flat" cmpd="sng" w="12700">
            <a:solidFill>
              <a:srgbClr val="C48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777240" y="1410703"/>
            <a:ext cx="7863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Questions &amp;</a:t>
            </a:r>
            <a:endParaRPr i="0" sz="4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Discussion</a:t>
            </a:r>
            <a:endParaRPr i="0" sz="4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777240" y="2965183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FDC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A8BFDC"/>
                </a:solidFill>
                <a:latin typeface="Spectral"/>
                <a:ea typeface="Spectral"/>
                <a:cs typeface="Spectral"/>
                <a:sym typeface="Spectral"/>
              </a:rPr>
              <a:t>Thank you for your time.</a:t>
            </a:r>
            <a:endParaRPr i="0" sz="16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777240" y="3404095"/>
            <a:ext cx="7498200" cy="27300"/>
          </a:xfrm>
          <a:prstGeom prst="rect">
            <a:avLst/>
          </a:prstGeom>
          <a:solidFill>
            <a:srgbClr val="2D4E7E"/>
          </a:solidFill>
          <a:ln cap="flat" cmpd="sng" w="12700">
            <a:solidFill>
              <a:srgbClr val="2D4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